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69B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Sanremo è nato donna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Analisi della parità di genere nelle 73 edizioni del Festival (1951–2023)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Analyst · Google Sheets &amp; Looker Studio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36700" y="4114800"/>
            <a:ext cx="1828800" cy="457200"/>
          </a:xfrm>
          <a:prstGeom prst="roundRect">
            <a:avLst>
              <a:gd name="adj" fmla="val 24000"/>
            </a:avLst>
          </a:prstGeom>
          <a:solidFill>
            <a:srgbClr val="FF69B4"/>
          </a:solidFill>
        </p:spPr>
      </p:sp>
      <p:sp>
        <p:nvSpPr>
          <p:cNvPr id="6" name="Text 4"/>
          <p:cNvSpPr/>
          <p:nvPr/>
        </p:nvSpPr>
        <p:spPr>
          <a:xfrm>
            <a:off x="1553210" y="4114800"/>
            <a:ext cx="181165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Analisi dati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77310" y="4114800"/>
            <a:ext cx="1828800" cy="457200"/>
          </a:xfrm>
          <a:prstGeom prst="roundRect">
            <a:avLst>
              <a:gd name="adj" fmla="val 24000"/>
            </a:avLst>
          </a:prstGeom>
          <a:solidFill>
            <a:srgbClr val="6A1B9A"/>
          </a:solidFill>
        </p:spPr>
      </p:sp>
      <p:sp>
        <p:nvSpPr>
          <p:cNvPr id="8" name="Text 6"/>
          <p:cNvSpPr/>
          <p:nvPr/>
        </p:nvSpPr>
        <p:spPr>
          <a:xfrm>
            <a:off x="3877310" y="4114800"/>
            <a:ext cx="182943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4114800"/>
            <a:ext cx="1828800" cy="457200"/>
          </a:xfrm>
          <a:prstGeom prst="roundRect">
            <a:avLst>
              <a:gd name="adj" fmla="val 24000"/>
            </a:avLst>
          </a:prstGeom>
          <a:solidFill>
            <a:srgbClr val="1565C0"/>
          </a:solidFill>
        </p:spPr>
      </p:sp>
      <p:sp>
        <p:nvSpPr>
          <p:cNvPr id="10" name="Text 8"/>
          <p:cNvSpPr/>
          <p:nvPr/>
        </p:nvSpPr>
        <p:spPr>
          <a:xfrm>
            <a:off x="6217920" y="411480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Storytelling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 traccia d'esame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2011680"/>
          </a:xfrm>
          <a:prstGeom prst="roundRect">
            <a:avLst>
              <a:gd name="adj" fmla="val 6818"/>
            </a:avLst>
          </a:prstGeom>
          <a:solidFill>
            <a:srgbClr val="F3E5F5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188720"/>
            <a:ext cx="749808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Sono stati forniti dati relativi alle edizioni di Sanremo dal 1951 al 2023, organizzati in tre tabelle.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Effettuate un'analisi dei dati, scegliete una tematica da indagare, effettuate tutto l'engineering necessario per generare visualizzazioni a sostegno dei dati e generate un report su Looker Studio, prestando particolare attenzione allo storytelling.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3429000"/>
            <a:ext cx="640080" cy="640080"/>
          </a:xfrm>
          <a:prstGeom prst="ellipse">
            <a:avLst/>
          </a:prstGeom>
          <a:solidFill>
            <a:srgbClr val="FF69B4"/>
          </a:solidFill>
        </p:spPr>
      </p:sp>
      <p:sp>
        <p:nvSpPr>
          <p:cNvPr id="7" name="Text 5"/>
          <p:cNvSpPr/>
          <p:nvPr/>
        </p:nvSpPr>
        <p:spPr>
          <a:xfrm>
            <a:off x="1463040" y="34290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Analisi dei dati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Esplorazione delle 3 tabelle fornite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33832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3429000"/>
            <a:ext cx="640080" cy="640080"/>
          </a:xfrm>
          <a:prstGeom prst="ellipse">
            <a:avLst/>
          </a:prstGeom>
          <a:solidFill>
            <a:srgbClr val="FF69B4"/>
          </a:solidFill>
        </p:spPr>
      </p:sp>
      <p:sp>
        <p:nvSpPr>
          <p:cNvPr id="12" name="Text 10"/>
          <p:cNvSpPr/>
          <p:nvPr/>
        </p:nvSpPr>
        <p:spPr>
          <a:xfrm>
            <a:off x="4343400" y="34290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416052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Scelta tematica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448056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Identificazione di una storia nei dati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3832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23760" y="3429000"/>
            <a:ext cx="640080" cy="640080"/>
          </a:xfrm>
          <a:prstGeom prst="ellipse">
            <a:avLst/>
          </a:prstGeom>
          <a:solidFill>
            <a:srgbClr val="FF69B4"/>
          </a:solidFill>
        </p:spPr>
      </p:sp>
      <p:sp>
        <p:nvSpPr>
          <p:cNvPr id="17" name="Text 15"/>
          <p:cNvSpPr/>
          <p:nvPr/>
        </p:nvSpPr>
        <p:spPr>
          <a:xfrm>
            <a:off x="7223760" y="34290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416052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 + Report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448056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Preparazione dati e visualizzazioni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Analisi dei dati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 tabelle, 1.663 canzoni, 73 edizioni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2651760" cy="3108960"/>
          </a:xfrm>
          <a:prstGeom prst="roundRect">
            <a:avLst>
              <a:gd name="adj" fmla="val 5172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54480"/>
            <a:ext cx="2651760" cy="640080"/>
          </a:xfrm>
          <a:prstGeom prst="roundRect">
            <a:avLst>
              <a:gd name="adj" fmla="val 21429"/>
            </a:avLst>
          </a:prstGeom>
          <a:solidFill>
            <a:srgbClr val="1565C0"/>
          </a:solidFill>
        </p:spPr>
      </p:sp>
      <p:sp>
        <p:nvSpPr>
          <p:cNvPr id="6" name="Text 4"/>
          <p:cNvSpPr/>
          <p:nvPr/>
        </p:nvSpPr>
        <p:spPr>
          <a:xfrm>
            <a:off x="365760" y="155448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Festival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73 righe • 1 per edizione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237744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Anno, Sede, Presentatore, Vincitore, Partecipanti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2651760" cy="3108960"/>
          </a:xfrm>
          <a:prstGeom prst="roundRect">
            <a:avLst>
              <a:gd name="adj" fmla="val 5172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554480"/>
            <a:ext cx="2651760" cy="640080"/>
          </a:xfrm>
          <a:prstGeom prst="roundRect">
            <a:avLst>
              <a:gd name="adj" fmla="val 21429"/>
            </a:avLst>
          </a:prstGeom>
          <a:solidFill>
            <a:srgbClr val="6A1B9A"/>
          </a:solidFill>
        </p:spPr>
      </p:sp>
      <p:sp>
        <p:nvSpPr>
          <p:cNvPr id="11" name="Text 9"/>
          <p:cNvSpPr/>
          <p:nvPr/>
        </p:nvSpPr>
        <p:spPr>
          <a:xfrm>
            <a:off x="3200400" y="155448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Classifica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23317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1.663 righe • 1 per canzone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743200"/>
            <a:ext cx="237744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Posizione, Interprete, Canzone, Anno, Autori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554480"/>
            <a:ext cx="2651760" cy="3108960"/>
          </a:xfrm>
          <a:prstGeom prst="roundRect">
            <a:avLst>
              <a:gd name="adj" fmla="val 5172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554480"/>
            <a:ext cx="2651760" cy="640080"/>
          </a:xfrm>
          <a:prstGeom prst="roundRect">
            <a:avLst>
              <a:gd name="adj" fmla="val 21429"/>
            </a:avLst>
          </a:prstGeom>
          <a:solidFill>
            <a:srgbClr val="00897B"/>
          </a:solidFill>
        </p:spPr>
      </p:sp>
      <p:sp>
        <p:nvSpPr>
          <p:cNvPr id="16" name="Text 14"/>
          <p:cNvSpPr/>
          <p:nvPr/>
        </p:nvSpPr>
        <p:spPr>
          <a:xfrm>
            <a:off x="6035040" y="1554480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Spotify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72200" y="23317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1.582 righe • dati streaming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2743200"/>
            <a:ext cx="237744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Canzone, Artista, Popolarità, Durata, Anno rilascio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 tematica scelta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1097280"/>
          </a:xfrm>
          <a:prstGeom prst="roundRect">
            <a:avLst>
              <a:gd name="adj" fmla="val 16667"/>
            </a:avLst>
          </a:prstGeom>
          <a:solidFill>
            <a:srgbClr val="FF69B4"/>
          </a:solidFill>
        </p:spPr>
      </p:sp>
      <p:sp>
        <p:nvSpPr>
          <p:cNvPr id="4" name="Text 2"/>
          <p:cNvSpPr/>
          <p:nvPr/>
        </p:nvSpPr>
        <p:spPr>
          <a:xfrm>
            <a:off x="1371600" y="1097280"/>
            <a:ext cx="6400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"Sanremo è nato donna e la sta dimenticando"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9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Perché questa scelta?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9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3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Messaggio chiaro e verificabile con i dati disponibili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324612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9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3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Arco narrativo forte: nascita → declino → record negativo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9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3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Doppio angolo: vincitori e conduttori entrambi analizzabili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406908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9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3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Rilevanza sociale: tema attuale e comprensibile da qualsiasi audience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Perche la differenza di genere?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 tematiche valutate, una scelta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8412480" cy="1005840"/>
          </a:xfrm>
          <a:prstGeom prst="roundRect">
            <a:avLst>
              <a:gd name="adj" fmla="val 10909"/>
            </a:avLst>
          </a:prstGeom>
          <a:solidFill>
            <a:srgbClr val="FFF0F5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44752"/>
            <a:ext cx="2926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9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Scelta: Differenza di genere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66160" y="1417320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Pro: Messaggio chiaro, storia con arco narrativo completo, dati sufficienti per costruirla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160" y="1810512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Contro: Il genere mancava nei dati: va costruito. </a:t>
            </a:r>
            <a:endParaRPr lang="en-US" sz="1100" i="1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 questo diventa engineering dimostrabile.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1005840"/>
          </a:xfrm>
          <a:prstGeom prst="roundRect">
            <a:avLst>
              <a:gd name="adj" fmla="val 10909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587752"/>
            <a:ext cx="2926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Scartata: Ristampe su Spotify</a:t>
            </a:r>
            <a:endParaRPr lang="en-US" sz="12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566160" y="2560320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Pro: Dati di popolarita interessanti nel tempo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2953512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Contro: Join tra tabelle su titoli scritti in modo diverso: troppo rumore, storia debole.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8412480" cy="1005840"/>
          </a:xfrm>
          <a:prstGeom prst="roundRect">
            <a:avLst>
              <a:gd name="adj" fmla="val 10909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730752"/>
            <a:ext cx="2926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Scartata: Avvicendarsi presentatori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3703320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Pro: Dati completi e puliti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4096512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Contro: Si riduce a una classifica (Baudo 13 volte). </a:t>
            </a:r>
            <a:endParaRPr lang="en-US" sz="1100" i="1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Nessun messaggio forte da comunicare.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 formule usate in Google Sheets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Engineering: trasformare dati grezzi in dati pronti per la visualizzazione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1920240" cy="749808"/>
          </a:xfrm>
          <a:prstGeom prst="roundRect">
            <a:avLst>
              <a:gd name="adj" fmla="val 12195"/>
            </a:avLst>
          </a:prstGeom>
          <a:solidFill>
            <a:srgbClr val="6A1B9A"/>
          </a:solidFill>
        </p:spPr>
      </p:sp>
      <p:sp>
        <p:nvSpPr>
          <p:cNvPr id="6" name="Text 4"/>
          <p:cNvSpPr/>
          <p:nvPr/>
        </p:nvSpPr>
        <p:spPr>
          <a:xfrm>
            <a:off x="365760" y="1371600"/>
            <a:ext cx="19202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VLOOKUP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23160" y="1481328"/>
            <a:ext cx="61264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Collegare il nome del vincitore alla tabella mappa_vincitori per ricavare il genere </a:t>
            </a:r>
            <a:endParaRPr lang="en-US" sz="120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(Uomo, Donna, Gruppo)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40280"/>
            <a:ext cx="1920240" cy="749808"/>
          </a:xfrm>
          <a:prstGeom prst="roundRect">
            <a:avLst>
              <a:gd name="adj" fmla="val 12195"/>
            </a:avLst>
          </a:prstGeom>
          <a:solidFill>
            <a:srgbClr val="6A1B9A"/>
          </a:solidFill>
        </p:spPr>
      </p:sp>
      <p:sp>
        <p:nvSpPr>
          <p:cNvPr id="10" name="Text 8"/>
          <p:cNvSpPr/>
          <p:nvPr/>
        </p:nvSpPr>
        <p:spPr>
          <a:xfrm>
            <a:off x="365760" y="2240280"/>
            <a:ext cx="19202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FLOOR(Anno, 10)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23160" y="2350008"/>
            <a:ext cx="61264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Calcolare il decennio di ogni edizione (es. 1967 diventa 1960) per raggruppare i dati nei grafici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108960"/>
            <a:ext cx="1920240" cy="749808"/>
          </a:xfrm>
          <a:prstGeom prst="roundRect">
            <a:avLst>
              <a:gd name="adj" fmla="val 12195"/>
            </a:avLst>
          </a:prstGeom>
          <a:solidFill>
            <a:srgbClr val="6A1B9A"/>
          </a:solidFill>
        </p:spPr>
      </p:sp>
      <p:sp>
        <p:nvSpPr>
          <p:cNvPr id="14" name="Text 12"/>
          <p:cNvSpPr/>
          <p:nvPr/>
        </p:nvSpPr>
        <p:spPr>
          <a:xfrm>
            <a:off x="365760" y="3108960"/>
            <a:ext cx="19202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COUNTIFS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23160" y="3218688"/>
            <a:ext cx="61264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Contare le vittorie per genere e per decennio nella tabella aggregati, usata direttamente da Looker Studio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77640"/>
            <a:ext cx="1920240" cy="749808"/>
          </a:xfrm>
          <a:prstGeom prst="roundRect">
            <a:avLst>
              <a:gd name="adj" fmla="val 12195"/>
            </a:avLst>
          </a:prstGeom>
          <a:solidFill>
            <a:srgbClr val="6A1B9A"/>
          </a:solidFill>
        </p:spPr>
      </p:sp>
      <p:sp>
        <p:nvSpPr>
          <p:cNvPr id="18" name="Text 16"/>
          <p:cNvSpPr/>
          <p:nvPr/>
        </p:nvSpPr>
        <p:spPr>
          <a:xfrm>
            <a:off x="365760" y="3977640"/>
            <a:ext cx="19202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23160" y="4087368"/>
            <a:ext cx="61264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Creare la colonna Vittoria_femminile: restituisce 1 se il genere vincitore e Donna, altrimenti 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Engineering su Google Sheets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 genere non era nei dati originali: l'abbiamo costruito noi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8132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dati_festival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3749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Tabella principale arricchita con colonne derivate tramite VLOOKUP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48132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9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mappa_vincitori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874520"/>
            <a:ext cx="3749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 vincitori mappati manualmente con genere: </a:t>
            </a:r>
            <a:endParaRPr lang="en-US" sz="110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Uomo / Donna / Gruppo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1272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mappa_presentatori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3749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 presentatori mappati con genere di conduzione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0175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31272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aggregati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3520440"/>
            <a:ext cx="3749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Conteggi per genere e decennio con COUNTIFS, </a:t>
            </a:r>
            <a:endParaRPr lang="en-US" sz="110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pronti per i grafici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Pagina 1 del Report "Sanremo è nato donna"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 quadro generale: numeri e primo messaggio</a:t>
            </a:r>
            <a:endParaRPr lang="en-US" sz="1200" dirty="0"/>
          </a:p>
        </p:txBody>
      </p:sp>
      <p:pic>
        <p:nvPicPr>
          <p:cNvPr id="4" name="Image 0" descr="/home/claude/pag1_new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51560"/>
            <a:ext cx="6400800" cy="34747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Pagina 2 del Report "Il lungo addio"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 declino nei decenni: dal 44% negli anni '50 a zero negli anni 2020</a:t>
            </a:r>
            <a:endParaRPr lang="en-US" sz="1200" dirty="0"/>
          </a:p>
        </p:txBody>
      </p:sp>
      <p:pic>
        <p:nvPicPr>
          <p:cNvPr id="4" name="Image 0" descr="/home/claude/pag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51560"/>
            <a:ext cx="6400800" cy="34747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Pagina 3 del Report "Nemmeno al microfono"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conduzione: stesso divario, stessa storia</a:t>
            </a:r>
            <a:endParaRPr lang="en-US" sz="1200" dirty="0"/>
          </a:p>
        </p:txBody>
      </p:sp>
      <p:pic>
        <p:nvPicPr>
          <p:cNvPr id="4" name="Image 0" descr="/home/claude/pag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51560"/>
            <a:ext cx="6400800" cy="347472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Scelte stilistiche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07008"/>
            <a:ext cx="3749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🎨 </a:t>
            </a:r>
            <a:r>
              <a:rPr lang="it-IT" altLang="en-US" sz="140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40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Palette dedicata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3749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Rosa (#FF69B4) = Donna</a:t>
            </a:r>
            <a:endParaRPr lang="en-US" sz="110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Viola (#9C27B0) = Gruppo</a:t>
            </a:r>
            <a:endParaRPr lang="en-US" sz="110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 = Uomo. </a:t>
            </a:r>
            <a:endParaRPr lang="en-US" sz="110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Stessi colori in tutte e 3 le pagine.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1207008"/>
            <a:ext cx="3749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✍️  Titoli come affermazioni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00600" y="1645920"/>
            <a:ext cx="3749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Ogni grafico ha un titolo narrativo </a:t>
            </a:r>
            <a:endParaRPr lang="en-US" sz="110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("Le donne hanno vinto 1 su 4"), </a:t>
            </a:r>
            <a:endParaRPr lang="en-US" sz="110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 una semplice etichetta.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127248"/>
            <a:ext cx="3749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📖  </a:t>
            </a:r>
            <a:r>
              <a:rPr lang="it-IT" altLang="en-US" sz="140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40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Struttura a storia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566160"/>
            <a:ext cx="3749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 3 pagine seguono un arco narrativo: </a:t>
            </a:r>
            <a:endParaRPr lang="en-US" sz="110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panoramica → declino → conferma. </a:t>
            </a:r>
            <a:endParaRPr lang="en-US" sz="110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 messaggio si costruisce progressivamente.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01752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8F8FC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3127248"/>
            <a:ext cx="3749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🔲  </a:t>
            </a:r>
            <a:r>
              <a:rPr lang="it-IT" altLang="en-US" sz="140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40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Cornici ai grafici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3566160"/>
            <a:ext cx="3749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Bordo aggiunto a ogni grafico per separarlo visivamente dallo sfondo e dare ordine alla pagina.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FF69B4"/>
          </a:solidFill>
        </p:spPr>
      </p:sp>
      <p:sp>
        <p:nvSpPr>
          <p:cNvPr id="4" name="Text 2"/>
          <p:cNvSpPr/>
          <p:nvPr/>
        </p:nvSpPr>
        <p:spPr>
          <a:xfrm>
            <a:off x="457200" y="1143000"/>
            <a:ext cx="2651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26%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6517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alt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elle edizioni vinte da una donna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109728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FF69B4"/>
          </a:solidFill>
        </p:spPr>
      </p:sp>
      <p:sp>
        <p:nvSpPr>
          <p:cNvPr id="7" name="Text 5"/>
          <p:cNvSpPr/>
          <p:nvPr/>
        </p:nvSpPr>
        <p:spPr>
          <a:xfrm>
            <a:off x="3337560" y="1143000"/>
            <a:ext cx="2651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37560" y="1920240"/>
            <a:ext cx="26517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alt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dizioni consecutive senza vincitrici </a:t>
            </a:r>
            <a:endParaRPr lang="en-US" sz="11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(dal 2014)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FF69B4"/>
          </a:solidFill>
        </p:spPr>
      </p:sp>
      <p:sp>
        <p:nvSpPr>
          <p:cNvPr id="10" name="Text 8"/>
          <p:cNvSpPr/>
          <p:nvPr/>
        </p:nvSpPr>
        <p:spPr>
          <a:xfrm>
            <a:off x="6217920" y="1143000"/>
            <a:ext cx="2651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9/73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17920" y="1920240"/>
            <a:ext cx="26517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alt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dizioni con una conduttrice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2103120"/>
          </a:xfrm>
          <a:prstGeom prst="roundRect">
            <a:avLst>
              <a:gd name="adj" fmla="val 6522"/>
            </a:avLst>
          </a:prstGeom>
          <a:solidFill>
            <a:srgbClr val="F0F0F0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34640"/>
            <a:ext cx="768096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9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Sanremo è nato donna. E sta dimenticando le sue origini.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Nilla Pizzi vinse le prime due edizioni del Festival. Da allora il palco è diventato progressivamente più maschile, sia sul podio che alla conduzione. Oggi viviamo il periodo più maschile di sempre: nessuna vincitrice dal 2014, il digiuno più lungo della storia, e nessuna conduttrice principale dal 2010. L'analisi dei dati dimostra che il divario non si sta chiudendo. Anzi, si è consolidato.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4259</Words>
  <Application>WPS Presentation</Application>
  <PresentationFormat>On-screen Show (16:9)</PresentationFormat>
  <Paragraphs>195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Sanremo è nato donna Analisi dati</dc:title>
  <dc:creator>PptxGenJS</dc:creator>
  <dc:subject>PptxGenJS Presentation</dc:subject>
  <cp:lastModifiedBy>ticco</cp:lastModifiedBy>
  <cp:revision>3</cp:revision>
  <dcterms:created xsi:type="dcterms:W3CDTF">2026-06-13T17:25:00Z</dcterms:created>
  <dcterms:modified xsi:type="dcterms:W3CDTF">2026-06-16T17:11:41Z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5B9CD482D2EC4E219CEFCE129CA7DAFF_12</vt:lpwstr>
  </property>
  <property fmtid="{D5CDD505-2E9C-101B-9397-08002B2CF9AE}" pid="3" name="KSOProductBuildVer">
    <vt:lpwstr>1033-12.1.0.26880</vt:lpwstr>
  </property>
</Properties>
</file>
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3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4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5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6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Prezzo Medio (€)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C55A11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2E75B6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Steve Madden IT</c:v>
                  </c:pt>
                  <c:pt idx="1">
                    <c:v>Betts</c:v>
                  </c:pt>
                  <c:pt idx="2">
                    <c:v>Deichmann IT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111.95</c:v>
                </c:pt>
                <c:pt idx="1">
                  <c:v>99.78</c:v>
                </c:pt>
                <c:pt idx="2">
                  <c:v>36.87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9595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4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9595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Steve Madden IT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Sandali</c:v>
                  </c:pt>
                  <c:pt idx="1">
                    <c:v>Sneakers</c:v>
                  </c:pt>
                  <c:pt idx="2">
                    <c:v>Décolleté</c:v>
                  </c:pt>
                  <c:pt idx="3">
                    <c:v>Stivali</c:v>
                  </c:pt>
                  <c:pt idx="4">
                    <c:v>Ballerine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113.83</c:v>
                </c:pt>
                <c:pt idx="1">
                  <c:v>118.63</c:v>
                </c:pt>
                <c:pt idx="2">
                  <c:v>114.89</c:v>
                </c:pt>
                <c:pt idx="3">
                  <c:v>110.68</c:v>
                </c:pt>
                <c:pt idx="4">
                  <c:v>100.21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Betts</c:v>
                </c:pt>
              </c:strCache>
            </c:strRef>
          </c:tx>
          <c:spPr>
            <a:solidFill>
              <a:srgbClr val="C55A1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Sandali</c:v>
                  </c:pt>
                  <c:pt idx="1">
                    <c:v>Sneakers</c:v>
                  </c:pt>
                  <c:pt idx="2">
                    <c:v>Décolleté</c:v>
                  </c:pt>
                  <c:pt idx="3">
                    <c:v>Stivali</c:v>
                  </c:pt>
                  <c:pt idx="4">
                    <c:v>Ballerine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98.08</c:v>
                </c:pt>
                <c:pt idx="1">
                  <c:v>66.32</c:v>
                </c:pt>
                <c:pt idx="2">
                  <c:v>125.43</c:v>
                </c:pt>
                <c:pt idx="3">
                  <c:v>121.62</c:v>
                </c:pt>
                <c:pt idx="4">
                  <c:v>100.94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Deichmann IT</c:v>
                </c:pt>
              </c:strCache>
            </c:strRef>
          </c:tx>
          <c:spPr>
            <a:solidFill>
              <a:srgbClr val="2E75B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Sandali</c:v>
                  </c:pt>
                  <c:pt idx="1">
                    <c:v>Sneakers</c:v>
                  </c:pt>
                  <c:pt idx="2">
                    <c:v>Décolleté</c:v>
                  </c:pt>
                  <c:pt idx="3">
                    <c:v>Stivali</c:v>
                  </c:pt>
                  <c:pt idx="4">
                    <c:v>Ballerine</c:v>
                  </c:pt>
                </c:lvl>
              </c:multiLvlStrCache>
            </c:multiLvl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36.86</c:v>
                </c:pt>
                <c:pt idx="1">
                  <c:v>36.86</c:v>
                </c:pt>
                <c:pt idx="2">
                  <c:v>36.86</c:v>
                </c:pt>
                <c:pt idx="3">
                  <c:v>36.86</c:v>
                </c:pt>
                <c:pt idx="4">
                  <c:v>36.86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9595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6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9595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Steve Madden IT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Sandali</c:v>
                  </c:pt>
                  <c:pt idx="1">
                    <c:v>Sneakers</c:v>
                  </c:pt>
                  <c:pt idx="2">
                    <c:v>Décolleté</c:v>
                  </c:pt>
                  <c:pt idx="3">
                    <c:v>Stivali</c:v>
                  </c:pt>
                  <c:pt idx="4">
                    <c:v>Ballerine</c:v>
                  </c:pt>
                  <c:pt idx="5">
                    <c:v>Mocassini</c:v>
                  </c:pt>
                  <c:pt idx="6">
                    <c:v>Zeppe</c:v>
                  </c:pt>
                  <c:pt idx="7">
                    <c:v>Stivaletti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211</c:v>
                </c:pt>
                <c:pt idx="1">
                  <c:v>66</c:v>
                </c:pt>
                <c:pt idx="2">
                  <c:v>51</c:v>
                </c:pt>
                <c:pt idx="3">
                  <c:v>22</c:v>
                </c:pt>
                <c:pt idx="4">
                  <c:v>46</c:v>
                </c:pt>
                <c:pt idx="5">
                  <c:v>9</c:v>
                </c:pt>
                <c:pt idx="6">
                  <c:v>0</c:v>
                </c:pt>
                <c:pt idx="7">
                  <c:v>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Betts</c:v>
                </c:pt>
              </c:strCache>
            </c:strRef>
          </c:tx>
          <c:spPr>
            <a:solidFill>
              <a:srgbClr val="C55A1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Sandali</c:v>
                  </c:pt>
                  <c:pt idx="1">
                    <c:v>Sneakers</c:v>
                  </c:pt>
                  <c:pt idx="2">
                    <c:v>Décolleté</c:v>
                  </c:pt>
                  <c:pt idx="3">
                    <c:v>Stivali</c:v>
                  </c:pt>
                  <c:pt idx="4">
                    <c:v>Ballerine</c:v>
                  </c:pt>
                  <c:pt idx="5">
                    <c:v>Mocassini</c:v>
                  </c:pt>
                  <c:pt idx="6">
                    <c:v>Zeppe</c:v>
                  </c:pt>
                  <c:pt idx="7">
                    <c:v>Stivaletti</c:v>
                  </c:pt>
                </c:lvl>
              </c:multiLvlStrCache>
            </c:multiLvl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143</c:v>
                </c:pt>
                <c:pt idx="1">
                  <c:v>30</c:v>
                </c:pt>
                <c:pt idx="2">
                  <c:v>126</c:v>
                </c:pt>
                <c:pt idx="3">
                  <c:v>8</c:v>
                </c:pt>
                <c:pt idx="4">
                  <c:v>44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Deichmann IT</c:v>
                </c:pt>
              </c:strCache>
            </c:strRef>
          </c:tx>
          <c:spPr>
            <a:solidFill>
              <a:srgbClr val="2E75B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Sandali</c:v>
                  </c:pt>
                  <c:pt idx="1">
                    <c:v>Sneakers</c:v>
                  </c:pt>
                  <c:pt idx="2">
                    <c:v>Décolleté</c:v>
                  </c:pt>
                  <c:pt idx="3">
                    <c:v>Stivali</c:v>
                  </c:pt>
                  <c:pt idx="4">
                    <c:v>Ballerine</c:v>
                  </c:pt>
                  <c:pt idx="5">
                    <c:v>Mocassini</c:v>
                  </c:pt>
                  <c:pt idx="6">
                    <c:v>Zeppe</c:v>
                  </c:pt>
                  <c:pt idx="7">
                    <c:v>Stivaletti</c:v>
                  </c:pt>
                </c:lvl>
              </c:multiLvlStrCache>
            </c:multiLvlStrRef>
          </c:cat>
          <c:val>
            <c:numRef>
              <c:f>Sheet1!$D$2:$D$9</c:f>
              <c:numCache>
                <c:formatCode>General</c:formatCode>
                <c:ptCount val="8"/>
                <c:pt idx="0">
                  <c:v>8</c:v>
                </c:pt>
                <c:pt idx="1">
                  <c:v>8</c:v>
                </c:pt>
                <c:pt idx="2">
                  <c:v>8</c:v>
                </c:pt>
                <c:pt idx="3">
                  <c:v>8</c:v>
                </c:pt>
                <c:pt idx="4">
                  <c:v>8</c:v>
                </c:pt>
                <c:pt idx="5">
                  <c:v>8</c:v>
                </c:pt>
                <c:pt idx="6">
                  <c:v>8</c:v>
                </c:pt>
                <c:pt idx="7">
                  <c:v>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9595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9595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Steve Madden IT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Con tacco</c:v>
                  </c:pt>
                  <c:pt idx="1">
                    <c:v>Bassi/flat</c:v>
                  </c:pt>
                  <c:pt idx="2">
                    <c:v>Con plateau</c:v>
                  </c:pt>
                  <c:pt idx="3">
                    <c:v>Con cinturino</c:v>
                  </c:pt>
                  <c:pt idx="4">
                    <c:v>Altro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10</c:v>
                </c:pt>
                <c:pt idx="1">
                  <c:v>8</c:v>
                </c:pt>
                <c:pt idx="2">
                  <c:v>8</c:v>
                </c:pt>
                <c:pt idx="3">
                  <c:v>5</c:v>
                </c:pt>
                <c:pt idx="4">
                  <c:v>180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Betts</c:v>
                </c:pt>
              </c:strCache>
            </c:strRef>
          </c:tx>
          <c:spPr>
            <a:solidFill>
              <a:srgbClr val="C55A1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Con tacco</c:v>
                  </c:pt>
                  <c:pt idx="1">
                    <c:v>Bassi/flat</c:v>
                  </c:pt>
                  <c:pt idx="2">
                    <c:v>Con plateau</c:v>
                  </c:pt>
                  <c:pt idx="3">
                    <c:v>Con cinturino</c:v>
                  </c:pt>
                  <c:pt idx="4">
                    <c:v>Altro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64</c:v>
                </c:pt>
                <c:pt idx="1">
                  <c:v>24</c:v>
                </c:pt>
                <c:pt idx="2">
                  <c:v>10</c:v>
                </c:pt>
                <c:pt idx="3">
                  <c:v>5</c:v>
                </c:pt>
                <c:pt idx="4">
                  <c:v>40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Deichmann IT</c:v>
                </c:pt>
              </c:strCache>
            </c:strRef>
          </c:tx>
          <c:spPr>
            <a:solidFill>
              <a:srgbClr val="2E75B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Con tacco</c:v>
                  </c:pt>
                  <c:pt idx="1">
                    <c:v>Bassi/flat</c:v>
                  </c:pt>
                  <c:pt idx="2">
                    <c:v>Con plateau</c:v>
                  </c:pt>
                  <c:pt idx="3">
                    <c:v>Con cinturino</c:v>
                  </c:pt>
                  <c:pt idx="4">
                    <c:v>Altro</c:v>
                  </c:pt>
                </c:lvl>
              </c:multiLvlStrCache>
            </c:multiLvl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2</c:v>
                </c:pt>
                <c:pt idx="1">
                  <c:v>3</c:v>
                </c:pt>
                <c:pt idx="2">
                  <c:v>0</c:v>
                </c:pt>
                <c:pt idx="3">
                  <c:v>2</c:v>
                </c:pt>
                <c:pt idx="4">
                  <c:v>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9595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9595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Steve Madden IT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Con tacco</c:v>
                  </c:pt>
                  <c:pt idx="1">
                    <c:v>Con plateau</c:v>
                  </c:pt>
                  <c:pt idx="2">
                    <c:v>Altro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</c:v>
                </c:pt>
                <c:pt idx="1">
                  <c:v>0</c:v>
                </c:pt>
                <c:pt idx="2">
                  <c:v>35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Betts</c:v>
                </c:pt>
              </c:strCache>
            </c:strRef>
          </c:tx>
          <c:spPr>
            <a:solidFill>
              <a:srgbClr val="C55A1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Con tacco</c:v>
                  </c:pt>
                  <c:pt idx="1">
                    <c:v>Con plateau</c:v>
                  </c:pt>
                  <c:pt idx="2">
                    <c:v>Altro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71</c:v>
                </c:pt>
                <c:pt idx="1">
                  <c:v>3</c:v>
                </c:pt>
                <c:pt idx="2">
                  <c:v>51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Deichmann IT</c:v>
                </c:pt>
              </c:strCache>
            </c:strRef>
          </c:tx>
          <c:spPr>
            <a:solidFill>
              <a:srgbClr val="2E75B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Con tacco</c:v>
                  </c:pt>
                  <c:pt idx="1">
                    <c:v>Con plateau</c:v>
                  </c:pt>
                  <c:pt idx="2">
                    <c:v>Altro</c:v>
                  </c:pt>
                </c:lvl>
              </c:multiLvlStrCache>
            </c:multiLvl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3</c:v>
                </c:pt>
                <c:pt idx="1">
                  <c:v>0</c:v>
                </c:pt>
                <c:pt idx="2">
                  <c:v>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9595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9595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Taglie medie per prodotto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6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C55A11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2E75B6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Steve Madden IT</c:v>
                  </c:pt>
                  <c:pt idx="1">
                    <c:v>Betts</c:v>
                  </c:pt>
                  <c:pt idx="2">
                    <c:v>Deichmann IT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8.83</c:v>
                </c:pt>
                <c:pt idx="1">
                  <c:v>6.03</c:v>
                </c:pt>
                <c:pt idx="2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6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9595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2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9595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ANALISI COMPETITOR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A8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Calzature Donna — Fascia Medio-Bassa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24688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7BA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Week | Maggio 2026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3200400"/>
            <a:ext cx="2651760" cy="1463040"/>
          </a:xfrm>
          <a:prstGeom prst="rect">
            <a:avLst/>
          </a:prstGeom>
          <a:solidFill>
            <a:srgbClr val="16305A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324612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8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🏠 Nostro Brand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3584448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Steve Madden IT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383280" y="3200400"/>
            <a:ext cx="2651760" cy="1463040"/>
          </a:xfrm>
          <a:prstGeom prst="rect">
            <a:avLst/>
          </a:prstGeom>
          <a:solidFill>
            <a:srgbClr val="16305A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74720" y="324612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8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🥊 Competitor 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474720" y="3584448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Deichmann IT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309360" y="3200400"/>
            <a:ext cx="2651760" cy="1463040"/>
          </a:xfrm>
          <a:prstGeom prst="rect">
            <a:avLst/>
          </a:prstGeom>
          <a:solidFill>
            <a:srgbClr val="16305A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0" y="324612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8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🥊 Competitor 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00800" y="3584448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Betts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Obiettivi del Progetto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8229600" cy="36576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097280"/>
            <a:ext cx="1920240" cy="3474720"/>
          </a:xfrm>
          <a:prstGeom prst="rect">
            <a:avLst/>
          </a:prstGeom>
          <a:solidFill>
            <a:srgbClr val="F2F2F2"/>
          </a:solidFill>
          <a:ln w="12700">
            <a:solidFill>
              <a:srgbClr val="D0D0D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28016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💰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365760" y="201168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Prezzi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65760" y="2514600"/>
            <a:ext cx="19202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Media, min e max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categoria e brand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468880" y="1097280"/>
            <a:ext cx="1920240" cy="3474720"/>
          </a:xfrm>
          <a:prstGeom prst="rect">
            <a:avLst/>
          </a:prstGeom>
          <a:solidFill>
            <a:srgbClr val="F2F2F2"/>
          </a:solidFill>
          <a:ln w="12700">
            <a:solidFill>
              <a:srgbClr val="D0D0D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468880" y="128016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👟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2468880" y="201168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Tipologie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2468880" y="2514600"/>
            <a:ext cx="19202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categorie: sandali,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sneakers, décolleté...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0" y="1097280"/>
            <a:ext cx="1920240" cy="3474720"/>
          </a:xfrm>
          <a:prstGeom prst="rect">
            <a:avLst/>
          </a:prstGeom>
          <a:solidFill>
            <a:srgbClr val="F2F2F2"/>
          </a:solidFill>
          <a:ln w="12700">
            <a:solidFill>
              <a:srgbClr val="D0D0D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0" y="128016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📊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4572000" y="201168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Modelli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572000" y="2514600"/>
            <a:ext cx="19202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N. prodotti per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categoria e brand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675120" y="1097280"/>
            <a:ext cx="1920240" cy="3474720"/>
          </a:xfrm>
          <a:prstGeom prst="rect">
            <a:avLst/>
          </a:prstGeom>
          <a:solidFill>
            <a:srgbClr val="F2F2F2"/>
          </a:solidFill>
          <a:ln w="12700">
            <a:solidFill>
              <a:srgbClr val="D0D0D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675120" y="128016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📏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6675120" y="201168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Taglie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675120" y="2514600"/>
            <a:ext cx="19202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Varietà gamma taglie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brand (bonus)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Brand Analizzati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8229600" cy="36576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005840"/>
            <a:ext cx="109728" cy="36576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75488" y="1005840"/>
            <a:ext cx="2560320" cy="3657600"/>
          </a:xfrm>
          <a:prstGeom prst="rect">
            <a:avLst/>
          </a:prstGeom>
          <a:solidFill>
            <a:srgbClr val="F2F2F2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09728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🏠 NOSTRO BRAND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141732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Steve Madden IT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192024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stevemadden.it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246888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Prezzo Medio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48640" y="27432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€111.95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548640" y="333756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N. Prodotti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48640" y="361188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406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3200400" y="1005840"/>
            <a:ext cx="109728" cy="365760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310128" y="1005840"/>
            <a:ext cx="2560320" cy="3657600"/>
          </a:xfrm>
          <a:prstGeom prst="rect">
            <a:avLst/>
          </a:prstGeom>
          <a:solidFill>
            <a:srgbClr val="F2F2F2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83280" y="109728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🥊 COMPETITOR 1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383280" y="141732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Deichmann IT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383280" y="192024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deichmann.com/it-it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383280" y="246888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Prezzo Medio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383280" y="27432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€36.87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3383280" y="333756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N. Prodotti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383280" y="361188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6035040" y="1005840"/>
            <a:ext cx="109728" cy="3657600"/>
          </a:xfrm>
          <a:prstGeom prst="rect">
            <a:avLst/>
          </a:prstGeom>
          <a:solidFill>
            <a:srgbClr val="C55A11"/>
          </a:solidFill>
          <a:ln w="12700">
            <a:solidFill>
              <a:srgbClr val="C55A11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144768" y="1005840"/>
            <a:ext cx="2560320" cy="3657600"/>
          </a:xfrm>
          <a:prstGeom prst="rect">
            <a:avLst/>
          </a:prstGeom>
          <a:solidFill>
            <a:srgbClr val="F2F2F2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17920" y="109728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55A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🥊 COMPETITOR 2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217920" y="141732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Betts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217920" y="192024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betts.com.au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217920" y="246888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Prezzo Medio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217920" y="27432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55A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€99.78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6217920" y="333756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N. Prodotti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217920" y="361188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55A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408</a:t>
            </a:r>
            <a:endParaRPr lang="en-US" sz="2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Posizionamento di Prezzo — Panoramica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8229600" cy="36576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graphicFrame>
        <p:nvGraphicFramePr>
          <p:cNvPr id="4" name="Chart 0" descr=""/>
          <p:cNvGraphicFramePr/>
          <p:nvPr/>
        </p:nvGraphicFramePr>
        <p:xfrm>
          <a:off x="457200" y="914400"/>
          <a:ext cx="502920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760720" y="1005840"/>
            <a:ext cx="3108960" cy="1143000"/>
          </a:xfrm>
          <a:prstGeom prst="rect">
            <a:avLst/>
          </a:prstGeom>
          <a:solidFill>
            <a:srgbClr val="F2F2F2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760720" y="1005840"/>
            <a:ext cx="109728" cy="11430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943600" y="105156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Steve Madden IT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943600" y="1353312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Media: €111.95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943600" y="1627632"/>
            <a:ext cx="2834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Min: €50  |  Max: €270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5760720" y="2286000"/>
            <a:ext cx="3108960" cy="1143000"/>
          </a:xfrm>
          <a:prstGeom prst="rect">
            <a:avLst/>
          </a:prstGeom>
          <a:solidFill>
            <a:srgbClr val="F2F2F2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760720" y="2286000"/>
            <a:ext cx="109728" cy="1143000"/>
          </a:xfrm>
          <a:prstGeom prst="rect">
            <a:avLst/>
          </a:prstGeom>
          <a:solidFill>
            <a:srgbClr val="C55A11"/>
          </a:solidFill>
          <a:ln w="12700">
            <a:solidFill>
              <a:srgbClr val="C55A1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943600" y="233172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55A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Betts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5943600" y="2633472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Media: €99.78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5943600" y="2907792"/>
            <a:ext cx="2834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Min: €5  |  Max: €280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5760720" y="3566160"/>
            <a:ext cx="3108960" cy="1143000"/>
          </a:xfrm>
          <a:prstGeom prst="rect">
            <a:avLst/>
          </a:prstGeom>
          <a:solidFill>
            <a:srgbClr val="F2F2F2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5760720" y="3566160"/>
            <a:ext cx="109728" cy="114300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943600" y="361188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Deichmann IT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5943600" y="3913632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Media: €36.87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5943600" y="4187952"/>
            <a:ext cx="2834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Min: €15  |  Max: €55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Confronto Prezzi per Categoria (€)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8229600" cy="36576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graphicFrame>
        <p:nvGraphicFramePr>
          <p:cNvPr id="4" name="Chart 0" descr=""/>
          <p:cNvGraphicFramePr/>
          <p:nvPr/>
        </p:nvGraphicFramePr>
        <p:xfrm>
          <a:off x="457200" y="914400"/>
          <a:ext cx="594360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6583680" y="100584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Differenze chiave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6583680" y="1463040"/>
            <a:ext cx="2286000" cy="548640"/>
          </a:xfrm>
          <a:prstGeom prst="rect">
            <a:avLst/>
          </a:prstGeom>
          <a:solidFill>
            <a:srgbClr val="F2F2F2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675120" y="1490472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Sneakers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6675120" y="1719072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55A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 +€52 vs Betts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6583680" y="2121408"/>
            <a:ext cx="2286000" cy="548640"/>
          </a:xfrm>
          <a:prstGeom prst="rect">
            <a:avLst/>
          </a:prstGeom>
          <a:solidFill>
            <a:srgbClr val="F2F2F2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675120" y="2148840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Sandali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6675120" y="2377440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55A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 +€16 vs Betts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6583680" y="2779776"/>
            <a:ext cx="2286000" cy="548640"/>
          </a:xfrm>
          <a:prstGeom prst="rect">
            <a:avLst/>
          </a:prstGeom>
          <a:solidFill>
            <a:srgbClr val="F2F2F2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675120" y="2807208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Décolleté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6675120" y="3035808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75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 -€11 vs Betts ✅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6583680" y="3438144"/>
            <a:ext cx="2286000" cy="548640"/>
          </a:xfrm>
          <a:prstGeom prst="rect">
            <a:avLst/>
          </a:prstGeom>
          <a:solidFill>
            <a:srgbClr val="F2F2F2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675120" y="3465576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Stivali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6675120" y="3694176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75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 -€11 vs Betts ✅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6583680" y="4096512"/>
            <a:ext cx="2286000" cy="548640"/>
          </a:xfrm>
          <a:prstGeom prst="rect">
            <a:avLst/>
          </a:prstGeom>
          <a:solidFill>
            <a:srgbClr val="F2F2F2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675120" y="4123944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Ballerine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6675120" y="4352544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 ≈ Betts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Confronto Numero Modelli per Categoria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8229600" cy="36576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graphicFrame>
        <p:nvGraphicFramePr>
          <p:cNvPr id="4" name="Chart 0" descr=""/>
          <p:cNvGraphicFramePr/>
          <p:nvPr/>
        </p:nvGraphicFramePr>
        <p:xfrm>
          <a:off x="457200" y="914400"/>
          <a:ext cx="822960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 è Leader per Categoria?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8229600" cy="36576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960120"/>
            <a:ext cx="1463040" cy="34747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00584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Categoria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737360" y="960120"/>
            <a:ext cx="1097280" cy="34747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783080" y="1005840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Steve Madden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834640" y="960120"/>
            <a:ext cx="1097280" cy="34747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880360" y="1005840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931920" y="960120"/>
            <a:ext cx="1097280" cy="34747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977640" y="1005840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Deichmann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029200" y="960120"/>
            <a:ext cx="1645920" cy="34747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74920" y="1005840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675120" y="960120"/>
            <a:ext cx="2103120" cy="34747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720840" y="100584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74320" y="1325880"/>
            <a:ext cx="850392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74320" y="1325880"/>
            <a:ext cx="54864" cy="420624"/>
          </a:xfrm>
          <a:prstGeom prst="rect">
            <a:avLst/>
          </a:prstGeom>
          <a:solidFill>
            <a:srgbClr val="375623"/>
          </a:solidFill>
          <a:ln w="12700">
            <a:solidFill>
              <a:srgbClr val="37562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7472" y="141732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Sandali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810512" y="1417320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75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211 ⭐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907792" y="1417320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143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005072" y="1417320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102352" y="1417320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75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Steve Madden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748272" y="141732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75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+68 vs Betts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74320" y="1773936"/>
            <a:ext cx="8503920" cy="420624"/>
          </a:xfrm>
          <a:prstGeom prst="rect">
            <a:avLst/>
          </a:prstGeom>
          <a:solidFill>
            <a:srgbClr val="F5F5F5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74320" y="1773936"/>
            <a:ext cx="54864" cy="420624"/>
          </a:xfrm>
          <a:prstGeom prst="rect">
            <a:avLst/>
          </a:prstGeom>
          <a:solidFill>
            <a:srgbClr val="375623"/>
          </a:solidFill>
          <a:ln w="12700">
            <a:solidFill>
              <a:srgbClr val="37562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7472" y="1865376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Sneakers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810512" y="1865376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75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66 ⭐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2907792" y="1865376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005072" y="1865376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102352" y="1865376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75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Steve Madden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748272" y="1865376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75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+36 vs Betts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274320" y="2221992"/>
            <a:ext cx="850392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74320" y="2221992"/>
            <a:ext cx="54864" cy="420624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47472" y="2313432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Décolleté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1810512" y="2313432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2907792" y="2313432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126 ⭐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005072" y="2313432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102352" y="2313432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55A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Betts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748272" y="2313432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-75 vs Betts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274320" y="2670048"/>
            <a:ext cx="8503920" cy="420624"/>
          </a:xfrm>
          <a:prstGeom prst="rect">
            <a:avLst/>
          </a:prstGeom>
          <a:solidFill>
            <a:srgbClr val="F5F5F5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74320" y="2670048"/>
            <a:ext cx="54864" cy="420624"/>
          </a:xfrm>
          <a:prstGeom prst="rect">
            <a:avLst/>
          </a:prstGeom>
          <a:solidFill>
            <a:srgbClr val="375623"/>
          </a:solidFill>
          <a:ln w="12700">
            <a:solidFill>
              <a:srgbClr val="375623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47472" y="2761488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Ballerine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1810512" y="2761488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75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2907792" y="2761488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4005072" y="2761488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5102352" y="2761488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75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Pari SM/Betts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6748272" y="2761488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75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 vs Betts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274320" y="3118104"/>
            <a:ext cx="850392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74320" y="3118104"/>
            <a:ext cx="54864" cy="420624"/>
          </a:xfrm>
          <a:prstGeom prst="rect">
            <a:avLst/>
          </a:prstGeom>
          <a:solidFill>
            <a:srgbClr val="375623"/>
          </a:solidFill>
          <a:ln w="12700">
            <a:solidFill>
              <a:srgbClr val="375623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47472" y="3209544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Stivali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1810512" y="3209544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75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⭐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2907792" y="3209544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4005072" y="3209544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5102352" y="3209544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75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Steve Madden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6748272" y="3209544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75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+14 vs Betts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274320" y="3566160"/>
            <a:ext cx="8503920" cy="420624"/>
          </a:xfrm>
          <a:prstGeom prst="rect">
            <a:avLst/>
          </a:prstGeom>
          <a:solidFill>
            <a:srgbClr val="F5F5F5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274320" y="3566160"/>
            <a:ext cx="54864" cy="420624"/>
          </a:xfrm>
          <a:prstGeom prst="rect">
            <a:avLst/>
          </a:prstGeom>
          <a:solidFill>
            <a:srgbClr val="375623"/>
          </a:solidFill>
          <a:ln w="12700">
            <a:solidFill>
              <a:srgbClr val="375623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347472" y="365760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Mocassini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1810512" y="3657600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75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⭐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2907792" y="3657600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000" dirty="0"/>
          </a:p>
        </p:txBody>
      </p:sp>
      <p:sp>
        <p:nvSpPr>
          <p:cNvPr id="61" name="Text 59"/>
          <p:cNvSpPr/>
          <p:nvPr/>
        </p:nvSpPr>
        <p:spPr>
          <a:xfrm>
            <a:off x="4005072" y="3657600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62" name="Text 60"/>
          <p:cNvSpPr/>
          <p:nvPr/>
        </p:nvSpPr>
        <p:spPr>
          <a:xfrm>
            <a:off x="5102352" y="3657600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75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Steve Madden</a:t>
            </a:r>
            <a:endParaRPr lang="en-US" sz="1000" dirty="0"/>
          </a:p>
        </p:txBody>
      </p:sp>
      <p:sp>
        <p:nvSpPr>
          <p:cNvPr id="63" name="Text 61"/>
          <p:cNvSpPr/>
          <p:nvPr/>
        </p:nvSpPr>
        <p:spPr>
          <a:xfrm>
            <a:off x="6748272" y="365760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75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Unico con mocc.</a:t>
            </a:r>
            <a:endParaRPr lang="en-US" sz="1000" dirty="0"/>
          </a:p>
        </p:txBody>
      </p:sp>
      <p:sp>
        <p:nvSpPr>
          <p:cNvPr id="64" name="Shape 62"/>
          <p:cNvSpPr/>
          <p:nvPr/>
        </p:nvSpPr>
        <p:spPr>
          <a:xfrm>
            <a:off x="274320" y="4014216"/>
            <a:ext cx="850392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274320" y="4014216"/>
            <a:ext cx="54864" cy="420624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347472" y="4105656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Zeppe</a:t>
            </a:r>
            <a:endParaRPr lang="en-US" sz="1000" dirty="0"/>
          </a:p>
        </p:txBody>
      </p:sp>
      <p:sp>
        <p:nvSpPr>
          <p:cNvPr id="67" name="Text 65"/>
          <p:cNvSpPr/>
          <p:nvPr/>
        </p:nvSpPr>
        <p:spPr>
          <a:xfrm>
            <a:off x="1810512" y="4105656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❌</a:t>
            </a:r>
            <a:endParaRPr lang="en-US" sz="1000" dirty="0"/>
          </a:p>
        </p:txBody>
      </p:sp>
      <p:sp>
        <p:nvSpPr>
          <p:cNvPr id="68" name="Text 66"/>
          <p:cNvSpPr/>
          <p:nvPr/>
        </p:nvSpPr>
        <p:spPr>
          <a:xfrm>
            <a:off x="2907792" y="4105656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000" dirty="0"/>
          </a:p>
        </p:txBody>
      </p:sp>
      <p:sp>
        <p:nvSpPr>
          <p:cNvPr id="69" name="Text 67"/>
          <p:cNvSpPr/>
          <p:nvPr/>
        </p:nvSpPr>
        <p:spPr>
          <a:xfrm>
            <a:off x="4005072" y="4105656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⭐</a:t>
            </a:r>
            <a:endParaRPr lang="en-US" sz="1000" dirty="0"/>
          </a:p>
        </p:txBody>
      </p:sp>
      <p:sp>
        <p:nvSpPr>
          <p:cNvPr id="70" name="Text 68"/>
          <p:cNvSpPr/>
          <p:nvPr/>
        </p:nvSpPr>
        <p:spPr>
          <a:xfrm>
            <a:off x="5102352" y="4105656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55A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Deichmann</a:t>
            </a:r>
            <a:endParaRPr lang="en-US" sz="1000" dirty="0"/>
          </a:p>
        </p:txBody>
      </p:sp>
      <p:sp>
        <p:nvSpPr>
          <p:cNvPr id="71" name="Text 69"/>
          <p:cNvSpPr/>
          <p:nvPr/>
        </p:nvSpPr>
        <p:spPr>
          <a:xfrm>
            <a:off x="6748272" y="4105656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 assente!</a:t>
            </a:r>
            <a:endParaRPr lang="en-US" sz="1000" dirty="0"/>
          </a:p>
        </p:txBody>
      </p:sp>
      <p:sp>
        <p:nvSpPr>
          <p:cNvPr id="72" name="Shape 70"/>
          <p:cNvSpPr/>
          <p:nvPr/>
        </p:nvSpPr>
        <p:spPr>
          <a:xfrm>
            <a:off x="274320" y="4462272"/>
            <a:ext cx="8503920" cy="420624"/>
          </a:xfrm>
          <a:prstGeom prst="rect">
            <a:avLst/>
          </a:prstGeom>
          <a:solidFill>
            <a:srgbClr val="F5F5F5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274320" y="4462272"/>
            <a:ext cx="54864" cy="420624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347472" y="4553712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Stivaletti</a:t>
            </a:r>
            <a:endParaRPr lang="en-US" sz="1000" dirty="0"/>
          </a:p>
        </p:txBody>
      </p:sp>
      <p:sp>
        <p:nvSpPr>
          <p:cNvPr id="75" name="Text 73"/>
          <p:cNvSpPr/>
          <p:nvPr/>
        </p:nvSpPr>
        <p:spPr>
          <a:xfrm>
            <a:off x="1810512" y="4553712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❌</a:t>
            </a:r>
            <a:endParaRPr lang="en-US" sz="1000" dirty="0"/>
          </a:p>
        </p:txBody>
      </p:sp>
      <p:sp>
        <p:nvSpPr>
          <p:cNvPr id="76" name="Text 74"/>
          <p:cNvSpPr/>
          <p:nvPr/>
        </p:nvSpPr>
        <p:spPr>
          <a:xfrm>
            <a:off x="2907792" y="4553712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000" dirty="0"/>
          </a:p>
        </p:txBody>
      </p:sp>
      <p:sp>
        <p:nvSpPr>
          <p:cNvPr id="77" name="Text 75"/>
          <p:cNvSpPr/>
          <p:nvPr/>
        </p:nvSpPr>
        <p:spPr>
          <a:xfrm>
            <a:off x="4005072" y="4553712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⭐</a:t>
            </a:r>
            <a:endParaRPr lang="en-US" sz="1000" dirty="0"/>
          </a:p>
        </p:txBody>
      </p:sp>
      <p:sp>
        <p:nvSpPr>
          <p:cNvPr id="78" name="Text 76"/>
          <p:cNvSpPr/>
          <p:nvPr/>
        </p:nvSpPr>
        <p:spPr>
          <a:xfrm>
            <a:off x="5102352" y="4553712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55A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Deichmann</a:t>
            </a:r>
            <a:endParaRPr lang="en-US" sz="1000" dirty="0"/>
          </a:p>
        </p:txBody>
      </p:sp>
      <p:sp>
        <p:nvSpPr>
          <p:cNvPr id="79" name="Text 77"/>
          <p:cNvSpPr/>
          <p:nvPr/>
        </p:nvSpPr>
        <p:spPr>
          <a:xfrm>
            <a:off x="6748272" y="4553712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 quasi assente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Confronto Sottocategorie — Sandali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8229600" cy="36576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graphicFrame>
        <p:nvGraphicFramePr>
          <p:cNvPr id="4" name="Chart 0" descr=""/>
          <p:cNvGraphicFramePr/>
          <p:nvPr/>
        </p:nvGraphicFramePr>
        <p:xfrm>
          <a:off x="457200" y="914400"/>
          <a:ext cx="548640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6126480" y="10058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Osservazioni chiave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6126480" y="1463040"/>
            <a:ext cx="2743200" cy="640080"/>
          </a:xfrm>
          <a:prstGeom prst="rect">
            <a:avLst/>
          </a:prstGeom>
          <a:solidFill>
            <a:srgbClr val="F2F2F2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217920" y="1499616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tacco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6217920" y="178308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55A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Betts domina: 64 vs 10 SM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6126480" y="2212848"/>
            <a:ext cx="2743200" cy="640080"/>
          </a:xfrm>
          <a:prstGeom prst="rect">
            <a:avLst/>
          </a:prstGeom>
          <a:solidFill>
            <a:srgbClr val="F2F2F2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217920" y="2249424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Bassi/flat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6217920" y="2532888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55A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Betts avanti: 24 vs 8 SM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6126480" y="2962656"/>
            <a:ext cx="2743200" cy="640080"/>
          </a:xfrm>
          <a:prstGeom prst="rect">
            <a:avLst/>
          </a:prstGeom>
          <a:solidFill>
            <a:srgbClr val="F2F2F2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217920" y="2999232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plateau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6217920" y="3282696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75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 e Betts pari: ~8-10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6126480" y="3712464"/>
            <a:ext cx="2743200" cy="640080"/>
          </a:xfrm>
          <a:prstGeom prst="rect">
            <a:avLst/>
          </a:prstGeom>
          <a:solidFill>
            <a:srgbClr val="F2F2F2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217920" y="37490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cinturino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6217920" y="4032504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Pari tra SM e Betts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Confronto Sottocategorie — Décolleté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8229600" cy="36576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graphicFrame>
        <p:nvGraphicFramePr>
          <p:cNvPr id="4" name="Chart 0" descr=""/>
          <p:cNvGraphicFramePr/>
          <p:nvPr/>
        </p:nvGraphicFramePr>
        <p:xfrm>
          <a:off x="457200" y="914400"/>
          <a:ext cx="548640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6126480" y="10058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Osservazioni chiave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6126480" y="1463040"/>
            <a:ext cx="2743200" cy="640080"/>
          </a:xfrm>
          <a:prstGeom prst="rect">
            <a:avLst/>
          </a:prstGeom>
          <a:solidFill>
            <a:srgbClr val="F2F2F2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217920" y="1499616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tacco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6217920" y="178308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enorme: Betts 71 vs SM 7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6126480" y="2212848"/>
            <a:ext cx="2743200" cy="640080"/>
          </a:xfrm>
          <a:prstGeom prst="rect">
            <a:avLst/>
          </a:prstGeom>
          <a:solidFill>
            <a:srgbClr val="F2F2F2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217920" y="2249424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plateau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6217920" y="2532888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 assente: 0 vs 3 Betts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6126480" y="2962656"/>
            <a:ext cx="2743200" cy="640080"/>
          </a:xfrm>
          <a:prstGeom prst="rect">
            <a:avLst/>
          </a:prstGeom>
          <a:solidFill>
            <a:srgbClr val="F2F2F2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217920" y="2999232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Altro/classici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6217920" y="3282696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55A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Betts leader: 51 vs 35 SM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6126480" y="3712464"/>
            <a:ext cx="2743200" cy="640080"/>
          </a:xfrm>
          <a:prstGeom prst="rect">
            <a:avLst/>
          </a:prstGeom>
          <a:solidFill>
            <a:srgbClr val="F2F2F2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217920" y="37490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Totale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6217920" y="4032504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 51 vs Betts 126 (-75)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Confronto Varietà Taglie — Analisi Bonus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8229600" cy="36576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graphicFrame>
        <p:nvGraphicFramePr>
          <p:cNvPr id="4" name="Chart 0" descr=""/>
          <p:cNvGraphicFramePr/>
          <p:nvPr/>
        </p:nvGraphicFramePr>
        <p:xfrm>
          <a:off x="457200" y="914400"/>
          <a:ext cx="502920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5760720" y="10058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Risultati taglie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5760720" y="1554480"/>
            <a:ext cx="3108960" cy="1005840"/>
          </a:xfrm>
          <a:prstGeom prst="rect">
            <a:avLst/>
          </a:prstGeom>
          <a:solidFill>
            <a:srgbClr val="F2F2F2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760720" y="1554480"/>
            <a:ext cx="91440" cy="100584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943600" y="1600200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Steve Madden IT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943600" y="1874520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8.83 taglie medie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943600" y="2148840"/>
            <a:ext cx="2834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5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Gamma più ampia ✅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760720" y="2651760"/>
            <a:ext cx="3108960" cy="1005840"/>
          </a:xfrm>
          <a:prstGeom prst="rect">
            <a:avLst/>
          </a:prstGeom>
          <a:solidFill>
            <a:srgbClr val="F2F2F2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760720" y="2651760"/>
            <a:ext cx="91440" cy="1005840"/>
          </a:xfrm>
          <a:prstGeom prst="rect">
            <a:avLst/>
          </a:prstGeom>
          <a:solidFill>
            <a:srgbClr val="C55A11"/>
          </a:solidFill>
          <a:ln w="12700">
            <a:solidFill>
              <a:srgbClr val="C55A11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943600" y="2697480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55A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Betts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5943600" y="2971800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6.03 taglie medie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5943600" y="3246120"/>
            <a:ext cx="2834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Copertura media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5760720" y="3749040"/>
            <a:ext cx="3108960" cy="1005840"/>
          </a:xfrm>
          <a:prstGeom prst="rect">
            <a:avLst/>
          </a:prstGeom>
          <a:solidFill>
            <a:srgbClr val="F2F2F2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5760720" y="3749040"/>
            <a:ext cx="91440" cy="100584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943600" y="3794760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Deichmann IT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5943600" y="4069080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Dati non disponibili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5943600" y="4343400"/>
            <a:ext cx="2834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55A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 esposti nel listing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Punti di Forza e Debolezza — Steve Madden IT vs Competitor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8229600" cy="36576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914400"/>
            <a:ext cx="4114800" cy="411480"/>
          </a:xfrm>
          <a:prstGeom prst="rect">
            <a:avLst/>
          </a:prstGeom>
          <a:solidFill>
            <a:srgbClr val="375623"/>
          </a:solidFill>
          <a:ln w="12700">
            <a:solidFill>
              <a:srgbClr val="37562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91440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PUNTI DI FORZA vs COMPETITOR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74320" y="1371600"/>
            <a:ext cx="411480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 sandali: 211 vs 143 Betts (+68)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 sneakers: 66 vs 30 Betts (+36)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Décolleté più economico di Betts: €114 vs €125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Stivali più economici di Betts: €110 vs €121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Gamma taglie più ampia: 8.83 vs 6.03 Betts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Unico brand con mocassini (9 modelli)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totale leader: 406 modelli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0" y="914400"/>
            <a:ext cx="4297680" cy="411480"/>
          </a:xfrm>
          <a:prstGeom prst="rect">
            <a:avLst/>
          </a:prstGeom>
          <a:solidFill>
            <a:srgbClr val="C55A11"/>
          </a:solidFill>
          <a:ln w="12700">
            <a:solidFill>
              <a:srgbClr val="C55A1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0" y="914400"/>
            <a:ext cx="4297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PUNTI DI DEBOLEZZA vs COMPETITOR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0" y="1371600"/>
            <a:ext cx="429768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Zeppe: 0 modelli vs 8 Deichmann ❌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Stivaletti: 1 vs 8 Deichmann ❌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Décolleté: 51 vs 126 Betts (-75 modelli)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Sneakers: €118 vs €66 Betts (+€52)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Sandali: €113 vs €98 Betts (+€15)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7 categorie vs 8 Deichmann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prezzo vs Deichmann: €75 in media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Raccomandazioni al CEO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8229600" cy="36576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005840"/>
            <a:ext cx="594360" cy="59436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0584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97280" y="1024128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Ampliare zeppe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97280" y="1307592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modelli vs 8 Deichmann — lacuna più urgente. Inserire almeno 10-15 modelli nella prossima stagione.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1828800"/>
            <a:ext cx="594360" cy="59436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82880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97280" y="1847088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Aumentare décolleté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97280" y="2130552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 vs 126 Betts (-75 modelli). Il prezzo è già vantaggioso (€114 vs €125) — manca il volume.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2651760"/>
            <a:ext cx="594360" cy="59436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265176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97280" y="2670048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Sneakers entry-level sotto €80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97280" y="2953512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di €52 vs Betts. Introdurre una linea economica per intercettare clienti sensibili al prezzo.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3474720"/>
            <a:ext cx="594360" cy="59436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47472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097280" y="3493008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Sviluppare stivaletti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97280" y="3776472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1 modello vs 8 Deichmann. Sviluppare 15-20 modelli per autunno-inverno.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65760" y="4297680"/>
            <a:ext cx="594360" cy="59436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42976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097280" y="4315968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Mantenere leadership sui sandali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97280" y="4599432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211 modelli — vantaggio assoluto (+68 vs Betts). Continuare a investire su questa categoria.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Conclusioni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A8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Steve Madden IT è leader assoluto per volume (406 modelli) e domina su sandali e sneakers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A8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Prezzo premium (€111.95 media) ben posizionato — €75 sopra Deichmann, €12 sopra Betts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A8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critici da colmare: zeppe (0 modelli), stivaletti (1 modello), décolleté (-75 vs Betts)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A8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Vantaggio competitivo su prezzo décolleté e stivali rispetto a Betts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A8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Gamma taglie più ampia del mercato (8.83 medie) — punto di forza da comunicare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371600" y="411480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878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1371600" y="46634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BA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Prodotti analizzati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931920" y="411480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3931920" y="46634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BA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Categorie confrontate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92240" y="411480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A23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6492240" y="46634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BA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comparati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Analisi Competitor Calzature Donna</dc:title>
  <dc:subject>PptxGenJS Presentation</dc:subject>
  <dc:creator>PptxGenJS</dc:creator>
  <cp:lastModifiedBy>PptxGenJS</cp:lastModifiedBy>
  <cp:revision>1</cp:revision>
  <dcterms:created xsi:type="dcterms:W3CDTF">2026-05-22T13:42:58Z</dcterms:created>
  <dcterms:modified xsi:type="dcterms:W3CDTF">2026-05-22T13:42:58Z</dcterms:modified>
</cp:coreProperties>
</file>